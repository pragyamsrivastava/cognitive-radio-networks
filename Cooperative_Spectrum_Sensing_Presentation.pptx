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t>COOPERATIVE SPECTRUM SENSING</a:t>
            </a:r>
          </a:p>
          <a:p>
            <a:pPr>
              <a:spcBef>
                <a:spcPts val="1000"/>
              </a:spcBef>
              <a:defRPr sz="2400" b="1">
                <a:solidFill>
                  <a:srgbClr val="FFFFFF"/>
                </a:solidFill>
              </a:defRPr>
            </a:pPr>
            <a:r>
              <a:t>Using Machine Learning for Cognitive Radio Networks</a:t>
            </a:r>
          </a:p>
          <a:p>
            <a:pPr>
              <a:spcBef>
                <a:spcPts val="1500"/>
              </a:spcBef>
              <a:defRPr sz="1600">
                <a:solidFill>
                  <a:srgbClr val="34D399"/>
                </a:solidFill>
              </a:defRPr>
            </a:pPr>
            <a:r>
              <a:t>Phase 1 Final Technical Presentation &amp; Demonstration</a:t>
            </a:r>
          </a:p>
          <a:p>
            <a:pPr>
              <a:spcBef>
                <a:spcPts val="3000"/>
              </a:spcBef>
              <a:defRPr sz="1300">
                <a:solidFill>
                  <a:srgbClr val="94A3B8"/>
                </a:solidFill>
              </a:defRPr>
            </a:pPr>
            <a:r>
              <a:t>Deep Learning (PyTorch CNN)  •  STFT Spectrograms  •  RTL-SDR Real RF Hardware  •  Fusion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Abstract &amp; Problem Statement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Cognitive Radio is Essential for Next-Gen Telecom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7171"/>
                </a:solidFill>
              </a:defRPr>
            </a:pPr>
            <a:r>
              <a:t>🚨 The Real-World Problem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Spectrum Scarcity: Radio frequencies are legally exhausted, but &gt;70% sit idle at any given time (White Spaces).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Fixed Allocation Flaw: Static licensing prevents secondary users from utilizing empty bands.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Traditional Detectors Fail: Simple Energy Detectors confuse noise with signals at low SNR (&lt; -5 dB) and fail when signals are blocked by buildings (Hidden Node Problem).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💡 Our Proposed AI Solution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AI-Driven Feature Recognition: Converts 1D raw IQ signals to 2D STFT Spectrogram images for pattern recognition.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Deep Learning Classifier: 4-block CNN identifies exact modulation (AM, FM, BPSK, QPSK) even in heavy AWGN noise.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Spatial Diversity (Cooperation): 3-node Fusion Center (OR &amp; Majority Voting) eliminates shadowing &amp; blind spots.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Hardware Validation: Real-time over-the-air signal scanning using RTL-SDR USB hardware receiver.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End-to-End System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Pipeline from Antenna Capture to Cooperative Fusion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1. RF Signal Source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Synthetic Generator (AM, FM, BPSK, QPSK + AWGN) OR Real RTL-SDR Antenna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2. Signal Preprocessing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Short-Time Fourier Transform (STFT) -&gt; Normalized 2D Spectrogram (64x64)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3. Deep CNN Classifier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4 Conv2D blocks + BatchNorm + MaxPool + Dropout -&gt; Softmax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4. Cooperative Fusion Center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Aggregates 3 node decisions using OR Rule (max Pd) &amp; Majority Voting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5. Dynamic Spectrum Access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Declares OCCUPIED (Protect Primary User) or VACANT (Transmit in White Space)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Hardware &amp; Software Components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Technologies Used in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💻 Software Environment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Python 3.14: Core programming environment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PyTorch 2.13: CNN architecture, training &amp; GPU/CPU inference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SciPy &amp; NumPy: STFT signal processing &amp; complex IQ manipulation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Scikit-Learn: ROC curve generation &amp; confusion matrices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Streamlit &amp; Plotly: Interactive real-time monitoring web dashboard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pyrtlsdr &amp; librtlsdr: Low-level C-driver interface for USB SDR receiver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📟 Hardware Setup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RTL-SDR USB Receiver: RTL2832U ADC + Fitipower FC0012 Tuner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Tuning Range: 24 MHz to 1.7 GHz (Covers FM, Airband, ISM, Cellular)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Sampling Rate: Up to 2.4 MSps (2.048 MHz baseband bandwidth)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Antenna: Telescopic RF Dipole antenna for over-the-air capture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Host Machine: Standard PC / Laptop for real-time AI execution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Deployment Target: Lightweight (~422K params) — Edge deployable on Raspberry Pi / Jetson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Deep Learning CNN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4-Block Convolutional Neural Network for Spectrogram Feature Extraction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Input Layer: 64 x 64 x 1 Grayscale Spectrogram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725912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Block 1: Conv2D(32, 3x3) -&gt; BatchNorm -&gt; ReLU -&gt; MaxPool2D(2x2)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725912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Block 2: Conv2D(64, 3x3) -&gt; BatchNorm -&gt; ReLU -&gt; MaxPool2D(2x2)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725912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Block 3: Conv2D(128, 3x3) -&gt; BatchNorm -&gt; ReLU -&gt; MaxPool2D(2x2)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725912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Block 4: Conv2D(256, 3x3) -&gt; BatchNorm -&gt; ReLU -&gt; MaxPool2D(2x2)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725912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Head: GlobalAdaptiveAvgPool -&gt; Dense(128) -&gt; Dropout(0.5) -&gt; Softmax(4 Classes)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D399"/>
                </a:solidFill>
              </a:defRPr>
            </a:pPr>
            <a:r>
              <a:t>⚡ Total Model Parameters: 422,212 | Loss Function: Categorical Cross-Entropy | Optimizer: Adam (lr=1e-3)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Mathematical Formulation &amp; Fusion Rules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How 3 Nodes Cooperate at the Fusion Center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1. The OR Rule (Conservative / Safe)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Decision: Declares OCCUPIED if ANY of the 3 nodes detects a signal.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Formula for Detection Probability (Qd):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     Q_d = 1 - (1 - P_d)^3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Formula for False Alarm Probability (Qf):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     Q_f = 1 - (1 - P_f)^3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Primary Advantage: Maximizes protection of Primary User (highest Pd). Ideal for mission-critical radar &amp; aviation.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2. Majority Voting (Democracy / Balanced)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Decision: Declares OCCUPIED if at least 2 out of 3 nodes detect.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Formula for Detection Probability (Qd):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     Q_d = 3*(P_d)^2*(1 - P_d) + (P_d)^3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Formula for False Alarm Probability (Qf):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     Q_f = 3*(P_f)^2*(1 - P_f) + (P_f)^3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Primary Advantage: Immunizes network against 1 faulty/noisy sensor. Suppresses false alarm rate (Qf) to avoid wasting spectrum.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Experimental Results &amp; Accuracy Analysis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Validation across SNR Range (-20 dB to +20 dB)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🎯 Performance Metrics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Overall Accuracy: 71.0% across extreme SNR sweep (-20 dB to +20 dB).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High SNR Accuracy (&gt; 0 dB): &gt; 95% across all classes.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AM Modulation: 96% Precision, 93% Recall (F1 = 0.95).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FM Modulation: 95% Precision, 95% Recall (F1 = 0.95).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Digital Modulations (BPSK/QPSK): Accurately identified as digital transmissions (share identical spectral bandwidth).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Robustness: Operates reliably even under severe noise floor down to -20 dB.</a:t>
            </a:r>
          </a:p>
        </p:txBody>
      </p:sp>
      <p:pic>
        <p:nvPicPr>
          <p:cNvPr id="5" name="Picture 4" descr="accuracy_vs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383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ROC Curves: Individual vs Cooperative Fusion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Probability of Detection (Pd) vs Probability of False Alarm (Pf)</a:t>
            </a:r>
          </a:p>
        </p:txBody>
      </p:sp>
      <p:pic>
        <p:nvPicPr>
          <p:cNvPr id="4" name="Picture 3" descr="roc_coope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113279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📈 Key ROC Takeaways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Low SNR Gain: At -10 dB SNR, a single node struggles (~50% detection). OR Rule cooperative fusion elevates Pd to &gt; 85%.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Overcoming Shadowing: Cooperation guarantees that if even 1 node has line-of-sight to the Primary User, the network will not collide.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OR Rule vs Majority: OR Rule maximizes detection (best PU protection); Majority Voting suppresses false alarms (best spectrum efficiency).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Full Compliance: Successfully validates Requirement 5 of the Master Development Prompt.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Live Hardware Validation (RTL-SDR)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Over-The-Air Real RF Signal Capture &amp; White-Space Discovery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182"/>
                <a:gridCol w="2145182"/>
                <a:gridCol w="2145182"/>
                <a:gridCol w="2145182"/>
                <a:gridCol w="2145184"/>
              </a:tblGrid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Tuned Frequency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Detected Signal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AI Confidence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Channel 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Cognitive Radio Action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91.5 MHz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FM Broadcast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91.6%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7171"/>
                          </a:solidFill>
                        </a:defRPr>
                      </a:pPr>
                      <a:r>
                        <a:t>OCCUPIED (Red)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Back off (Protect Radio Station)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93.5 MHz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FM Broadcast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92.3%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7171"/>
                          </a:solidFill>
                        </a:defRPr>
                      </a:pPr>
                      <a:r>
                        <a:t>OCCUPIED (Red)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Back off (Protect Radio Station)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98.3 MHz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Noise Floor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49.1%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4D399"/>
                          </a:solidFill>
                        </a:defRPr>
                      </a:pPr>
                      <a:r>
                        <a:t>VACANT (Green)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4D399"/>
                          </a:solidFill>
                        </a:defRPr>
                      </a:pPr>
                      <a:r>
                        <a:t>✨ SPECTRUM HOLE: Safe to Transmit!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104.0 MHz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FM Broadcast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89.3%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7171"/>
                          </a:solidFill>
                        </a:defRPr>
                      </a:pPr>
                      <a:r>
                        <a:t>OCCUPIED (Red)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Back off (Protect Radio Station)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121.5 MHz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Airband ATC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88.4%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7171"/>
                          </a:solidFill>
                        </a:defRPr>
                      </a:pPr>
                      <a:r>
                        <a:t>OCCUPIED (Red)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Aviation Emergency (Do Not Transmit)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433.0 MHz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ISM Telemetry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82.2%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7171"/>
                          </a:solidFill>
                        </a:defRPr>
                      </a:pPr>
                      <a:r>
                        <a:t>OCCUPIED (Red)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IoT Sensor Traffic Detected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Real-World Applications &amp; Merits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Industrial &amp; Defense Impact of AI Cognitive Radios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🌍 Real-World Applications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5G / 6G Dynamic Spectrum Sharing (DSS): Packing 10x more users onto existing bands.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TV White Spaces (TVWS) Rural Broadband: Providing affordable long-range Wi-Fi to remote villages over unused TV channels.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Disaster Response: Emergency rescue radios finding clear frequencies when cell towers collapse.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Defense &amp; Anti-Jamming: Rapidly hopping to clear spectrum holes when an enemy jams frequencies.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⭐ Key Advantages Over Classical Methods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Feature-Based vs Power-Based: CNN recognizes geometric spectral texture, avoiding false alarms from noise spikes.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Spatial Diversity: Multi-node fusion eliminates the hidden node problem entirely.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Real-Time Web Dashboard: Streamlit + Plotly UI provides instant visual spectrum monitoring &amp; explainability.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Edge Deployable: Compact model (~422K parameters) runs in real-time on CPU / embedded devices.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Future Scope &amp; Conclusion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Roadmap for Phase 2 &amp;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🚀 Phase 2 Future Scope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Full-Duplex Transmission: Upgrading to HackRF One / USRP to automatically transmit onto detected white spaces.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Deep Reinforcement Learning (DRL): Implementing Q-Learning for autonomous frequency-hopping policies.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Soft Fusion Combining: Utilizing full continuous softmax confidence vectors (EGC/MRC).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Security: Mitigating Primary User Emulation Attacks (PUEA) and rogue nodes.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🏁 Conclusion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Successfully delivered Phase 1 Master Requirements for AI-driven Cognitive Spectrum Sensing.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Validated that STFT Spectrograms + PyTorch CNN achieves superior classification under heavy AWGN noise.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Proved that Cooperative Fusion Center (OR &amp; Majority Voting) solves shadowing &amp; fading.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• Demonstrated full hardware-in-the-loop over-the-air capture with RTL-SDR &amp; interactive Streamlit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